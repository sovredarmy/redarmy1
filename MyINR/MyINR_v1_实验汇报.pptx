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PSNR</c:v>
                </c:pt>
              </c:strCache>
            </c:strRef>
          </c:tx>
          <c:spPr>
            <a:solidFill>
              <a:srgbClr val="1B6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6B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6B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6B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6B7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0BEC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0BEC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0BEC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base</c:v>
                  </c:pt>
                  <c:pt idx="1">
                    <c:v>A1 多尺度</c:v>
                  </c:pt>
                  <c:pt idx="2">
                    <c:v>A3 +FFT</c:v>
                  </c:pt>
                  <c:pt idx="3">
                    <c:v>A4 +光流</c:v>
                  </c:pt>
                  <c:pt idx="4">
                    <c:v>A5 +TCL</c:v>
                  </c:pt>
                  <c:pt idx="5">
                    <c:v>A6 损失调制</c:v>
                  </c:pt>
                  <c:pt idx="6">
                    <c:v>A7 全模块</c:v>
                  </c:pt>
                  <c:pt idx="7">
                    <c:v>多clip I/P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29.37</c:v>
                </c:pt>
                <c:pt idx="1">
                  <c:v>29.82</c:v>
                </c:pt>
                <c:pt idx="2">
                  <c:v>29.62</c:v>
                </c:pt>
                <c:pt idx="3">
                  <c:v>29.8</c:v>
                </c:pt>
                <c:pt idx="4">
                  <c:v>28.75</c:v>
                </c:pt>
                <c:pt idx="5">
                  <c:v>28.77</c:v>
                </c:pt>
                <c:pt idx="6">
                  <c:v>28.82</c:v>
                </c:pt>
                <c:pt idx="7">
                  <c:v>24.92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B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"/>
          <c:min val="2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PSNR (dB)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1B6B7A"/>
            </a:solidFill>
            <a:ln w="31750" cap="flat">
              <a:solidFill>
                <a:srgbClr val="1B6B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4748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6B7A"/>
              </a:solidFill>
              <a:ln w="9525" cap="flat">
                <a:solidFill>
                  <a:srgbClr val="1B6B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S</c:v>
                  </c:pt>
                  <c:pt idx="1">
                    <c:v>M</c:v>
                  </c:pt>
                  <c:pt idx="2">
                    <c:v>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29.37</c:v>
                </c:pt>
                <c:pt idx="1">
                  <c:v>32.54</c:v>
                </c:pt>
                <c:pt idx="2">
                  <c:v>36.3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A1 多尺度</c:v>
                </c:pt>
              </c:strCache>
            </c:strRef>
          </c:tx>
          <c:spPr>
            <a:solidFill>
              <a:srgbClr val="2E86C1"/>
            </a:solidFill>
            <a:ln w="31750" cap="flat">
              <a:solidFill>
                <a:srgbClr val="2E86C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4748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86C1"/>
              </a:solidFill>
              <a:ln w="9525" cap="flat">
                <a:solidFill>
                  <a:srgbClr val="2E86C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S</c:v>
                  </c:pt>
                  <c:pt idx="1">
                    <c:v>M</c:v>
                  </c:pt>
                  <c:pt idx="2">
                    <c:v>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29.82</c:v>
                </c:pt>
                <c:pt idx="1">
                  <c:v>32.2</c:v>
                </c:pt>
                <c:pt idx="2">
                  <c:v>34.81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多clip I/P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4748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S</c:v>
                  </c:pt>
                  <c:pt idx="1">
                    <c:v>M</c:v>
                  </c:pt>
                  <c:pt idx="2">
                    <c:v>L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24.92</c:v>
                </c:pt>
                <c:pt idx="1">
                  <c:v>27.41</c:v>
                </c:pt>
                <c:pt idx="2">
                  <c:v>30.09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64748B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7"/>
          <c:min val="2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B3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PSNR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844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6B7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150 ep</c:v>
                  </c:pt>
                  <c:pt idx="1">
                    <c:v>450 ep (步数对齐)</c:v>
                  </c:pt>
                  <c:pt idx="2">
                    <c:v>整段基线 150 ep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25.59</c:v>
                </c:pt>
                <c:pt idx="1">
                  <c:v>29.69</c:v>
                </c:pt>
                <c:pt idx="2">
                  <c:v>29.37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B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"/>
          <c:min val="2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REPORT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MyINR v1 实验报告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0B8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NeRV 五项改进的实验评估 · 失败归因 · 改进策略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8FA3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  NeRV-S/M/L · 150 epoch · 剪枝40% + 8bit对称量化 + 算术编码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8FA3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 bunny (720p) + UVG 7 序列 (1080p, 3900 帧)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8FA3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基线一致性  beauty 训练 PSNR 32.46 dB = 官方复现 32.46 dB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177272" y="6172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8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2026-09-05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结论速览: 一项有效, 一项更正后最强, 多模型路线失败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DF3F5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+0.45 dB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017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多尺度监督 A1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档等码率增益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10712" y="17373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DF3F5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2011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32.46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47872" y="3017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基线一致性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beauty dB = 官方复现逐位对齐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2784" y="17373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DF3F5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2011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+604%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9944" y="3017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完整多 clip I/P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bunny BD-rate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34856" y="17373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DF3F5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2011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272016" y="3017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自研算术编码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距符号熵差距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 Scene-Matters 辅助损失在本设定全部负贡献 (BD-rate +5% ~ +54%); 失败机理全部完成定量归因 (第 9-11 页)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已按 UAR-NVC 正确形态重构 (GOP/GOM + RQEC-lite + II 初始化 + 步数对齐), GPU 空闲后自动重跑验证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数据: MyINR runs/ · git v1=99a568d · 协议 NeRV 150ep+剪枝40%+8bit量化+算术编码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实验设置: 与官方复现严格同协议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锚点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286000" y="16916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MyINR baseline 模式 = 原版 NeRV: 单帧 batch=1 / single-res / Fusion6 / Adam 5e-4 cosine / 150 epoch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95144"/>
            <a:ext cx="7863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4048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压缩管线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86000" y="240487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渐进全局 L1 剪枝(保留40%) → 逐通道 8bit 对称量化(零对齐) → 自研 CACM87 算术编码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008376"/>
            <a:ext cx="7863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1810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码率点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86000" y="3118104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模型规模 S / M / L (3.2M / 6.5M / 13.0M 参数), 位深固定不作码率旋钮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721608"/>
            <a:ext cx="7863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3133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86000" y="3831336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BD-rate (PCHIP, JVET 口径, 纯 numpy 实现), 负值 = 省码率; 每配置 3 个码率点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7863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5445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286000" y="45445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bunny 13 个配置 × 3 档 (A1→A10, ours, ourspar) + 诊断实验 (W/X/Y 系列)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778240" y="1691640"/>
            <a:ext cx="2834640" cy="3383280"/>
          </a:xfrm>
          <a:prstGeom prst="roundRect">
            <a:avLst>
              <a:gd name="adj" fmla="val 2581"/>
            </a:avLst>
          </a:prstGeom>
          <a:solidFill>
            <a:srgbClr val="162235"/>
          </a:solidFill>
          <a:ln/>
        </p:spPr>
      </p:sp>
      <p:sp>
        <p:nvSpPr>
          <p:cNvPr id="19" name="Text 17"/>
          <p:cNvSpPr/>
          <p:nvPr/>
        </p:nvSpPr>
        <p:spPr>
          <a:xfrm>
            <a:off x="900684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DC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基线一致性验证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06840" y="2468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32.46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9006840" y="34747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0B8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B0B8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beauty dense 训练 PSNR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B0B8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官方仓库复现值(逐位一致)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数据: MyINR runs/ · git v1=99a568d · 协议 NeRV 150ep+剪枝40%+8bit量化+算术编码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METHOD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五项改进 → 实现 → 码率处理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486400"/>
                <a:gridCol w="27432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改进项</a:t>
                      </a:r>
                      <a:endParaRPr lang="en-US" sz="12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实现</a:t>
                      </a:r>
                      <a:endParaRPr lang="en-US" sz="12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码率</a:t>
                      </a:r>
                      <a:endParaRPr lang="en-US" sz="12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CRSPE 每帧内容嵌入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可学习逐帧空间码 (N,4,9,16) 融入 MLP 特征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逐帧 8bit 编码计入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FFT 频域损失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L1(rFFT2 范数), λ=0.1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零码率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伪标签光流约束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金字塔 LK 伪标签 + 光流头 + 可学习置信度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辅助头不计码率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TCL 时序对比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AlexNet 嵌入 + EMA 库 + 高斯先验 InfoNCE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零码率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dynamicAL 帧权重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探针 8ep 梯度范数; v1 损失调制 / 更正后采样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零码率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多尺度频率分解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 stage head + max-pool 金字塔 + HFB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head 参数计入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场景切分 + 多模型 I/P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余弦距离+动态突变切分; I 剪枝 dense / P 差分编码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 + ΣΔ 级联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数据: MyINR runs/ · git v1=99a568d · 协议 NeRV 150ep+剪枝40%+8bit量化+算术编码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RESULTS · BUNNY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bunny 全消融: 三码率点 PSNR@bpp 与 BD-rate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03120"/>
                <a:gridCol w="2103120"/>
                <a:gridCol w="2103120"/>
                <a:gridCol w="149047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配置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 档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 档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L 档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BD-rate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 (锚点)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29.37 @104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32.54 @205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36.30 @407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anchor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A1 多尺度监督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29.82 @104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32.20 @205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34.81 @408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+6.0%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A3 +FFT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29.62 @109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33.06 @210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34.58 @413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+5.2%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A4 +光流约束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29.80 @109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32.11 @210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34.46 @414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+12.0%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A5 +TCL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28.75 @109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30.81 @210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33.05 @413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+54.0%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A6 +帧权重(损失调制)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28.77 @109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30.80 @210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33.00 @413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+54.3%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A7 单模型全模块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28.82 @109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30.97 @210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33.27 @413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+47.8%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A8 场景切分多 clip I/P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24.92 @224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27.41 @435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30.09 @862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+604.1%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数据: MyINR runs/ · git v1=99a568d · 协议 NeRV 150ep+剪枝40%+8bit量化+算术编码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RESULTS · CHART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档等码率对照: 仅多尺度监督超过基线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863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686800" y="201168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 多尺度: S 档 +0.45 dB (等码率), M/L 档回退(均匀 1/5 损失加权拖累)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A6 帧权重(损失调制): 诊断显示低权重帧被饿死, 正确形态为资源采样(v2)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clip I/P: 更差且更贵, 机理见后页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数据: MyINR runs/ · git v1=99a568d · 协议 NeRV 150ep+剪枝40%+8bit量化+算术编码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RESULTS · 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bunny RD 曲线: 多 clip 曲线整体右移且下移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1323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955280" y="1920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bpp 近似: S≈0.104, M≈0.205, L≈0.407 (多clip: 0.224/0.435/0.862)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955280" y="274320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clip 在每个码率点上都是 "更差且更贵"; 单模型配置在 S 档能超过基线, 大模型档被多尺度均分损失拖累 (v2 已改为加权退火).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数据: MyINR runs/ · git v1=99a568d · 协议 NeRV 150ep+剪枝40%+8bit量化+算术编码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诊断实验: 机理的定量证据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步数饥饿 (bunny clip0, 同架构)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57400"/>
          <a:ext cx="53949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模块隔离 (40 ep 短训, clip0)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057400"/>
          <a:ext cx="52120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配置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PSNR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判读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多尺度基准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24.07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收敛最快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+FFT / +光流 / +HFB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23.4~23.5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短训无害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+TCL (λ=0.05)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19.88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量级失衡 (修复后 23.16)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+帧权重[0.5,2.0]损失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16.62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低权重帧饿死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TCL 门控: 远帧相似度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0.945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&gt;0.75 → 单场景应关闭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量化工程: 逐通道 minmax → 对称零对齐, 7.18 → 4.69 bits/param; 算术编码距熵 ≤0.3%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数据: MyINR runs/ · git v1=99a568d · 协议 NeRV 150ep+剪枝40%+8bit量化+算术编码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FAILURE 1/3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步数饥饿: epoch 是随 clip 长度缩放的单位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一步梯度属于模型, 不属于帧: 整段基线花在前 41 帧上的步数同样约 6k(每帧更新次数与 clip 完全一致); 差距在模型级 —— clip 模型整体只有 6k 次参数更新, 基线模型 20k 次, 下降预算被压缩 3.3 倍.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25.59 → 29.69 dB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1463040" y="397764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同口径排除实验: 纯基线协议单训 clip0(每帧更新次数相同)仍低 2.4 dB → 差距在模型步数预算, 非帧级饥饿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11680" y="484632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EDF3F5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4983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修复 (P5): 每 clip epoch = 基准 epoch × 全视频前向量 / clip 前向量 (上限 400), 训练结束即步数对齐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数据: MyINR runs/ · git v1=99a568d · 协议 NeRV 150ep+剪枝40%+8bit量化+算术编码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FAILURE 2/3 &amp; 3/3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P-model 复合伤害 + 目标函数级冲突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机理二: P-model 的五重伤害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D-init 锚定旧内容 (UAR-NVC 消融中最差变体), 微调先遗忘再学习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delta-L1 正则持续把权重拉回旧模型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训练结束瞬间硬删 75% 差分, 无恢复期 (I 有渐进剪枝+恢复, P 没有)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6bit 量化噪声叠加; 步数仍只有 I 的一半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机理三: 切分目标与差分编码互斥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0" y="205740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场景切分 = 最大化段间不连续; 权重差编码 = 需要段间最连续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失去跨段共享: bunny 三段同一只兔子, 单模型编码一次共享, 分段各学三遍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难段失去兜底: jockey 快速运动 P-model 崩至 21 dB, 帧均值被拖垮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709160"/>
            <a:ext cx="3566160" cy="1143000"/>
          </a:xfrm>
          <a:prstGeom prst="roundRect">
            <a:avLst>
              <a:gd name="adj" fmla="val 4800"/>
            </a:avLst>
          </a:prstGeom>
          <a:solidFill>
            <a:srgbClr val="16223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846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21-22 dB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5440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8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jockey P-model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4709160"/>
            <a:ext cx="3566160" cy="1143000"/>
          </a:xfrm>
          <a:prstGeom prst="roundRect">
            <a:avLst>
              <a:gd name="adj" fmla="val 4800"/>
            </a:avLst>
          </a:prstGeom>
          <a:solidFill>
            <a:srgbClr val="162235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846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 dB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389120" y="5440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8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beauty 均匀劣化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4709160"/>
            <a:ext cx="3566160" cy="1143000"/>
          </a:xfrm>
          <a:prstGeom prst="roundRect">
            <a:avLst>
              <a:gd name="adj" fmla="val 4800"/>
            </a:avLst>
          </a:prstGeom>
          <a:solidFill>
            <a:srgbClr val="16223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4846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×2.1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29600" y="5440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8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数据: MyINR runs/ · git v1=99a568d · 协议 NeRV 150ep+剪枝40%+8bit量化+算术编码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AUX LOSSES FAIL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辅助损失为何全线负贡献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465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梯度比失衡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480560" y="169164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辅助项量级恒定, 重建梯度随收敛衰减 → 末段辅助/重建梯度比放大数倍, 终点偏离 MSE 最优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2587752"/>
            <a:ext cx="10241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70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71600" y="27157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TCL 结构性反向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2715768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InfoNCE 要求远帧可区分, 但固定机位远帧内容本就相似 (实测 0.945) → 梯度与保真度冲突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3611880"/>
            <a:ext cx="10241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371600" y="373989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HFB 放大噪声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0560" y="3739896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收敛期残差以噪声为主, 把残差高通加回目标 = 训练网络逼近放大后的噪声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71600" y="4636008"/>
            <a:ext cx="10241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818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371600" y="47640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代理弱化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80560" y="4764024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无网络环境: RAFT→金字塔 LK (bunny 光流均值仅 0.25px), ResNet→AlexNet; 收益最大的模块退化最重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修复 (P4): 辅助损失末 30% 退火至零; HFB 80% 后关闭; TCL 按内容门控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数据: MyINR runs/ · git v1=99a568d · 协议 NeRV 150ep+剪枝40%+8bit量化+算术编码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影响结论的工程 bug 与修复 (已入 git 历史)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206240"/>
                <a:gridCol w="30449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问题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后果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修复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渐进剪枝按全局保留率连乘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实际剪到 84% 零点, 基线损失 2.7 dB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每步保留 keep^(1/n)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逐通道量化把零打散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掩码熵编码失效 7.18 bits/param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对称量化零对齐 → 4.69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整段视频驻留内存评估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并发触发系统 OOM, 批任务被杀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流式评估 + 显存闸门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BD-rate 积分次序写反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符号反向 (省码率显示为正)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对齐 JVET 口径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启动时 GPU 被占满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 任务启动即 OOM 不重试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显存检查 + 跳过已完成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数据: MyINR runs/ · git v1=99a568d · 协议 NeRV 150ep+剪枝40%+8bit量化+算术编码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 AGAINST UAR-NVC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UAR-NVC 的 I/P 分野能成立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577840"/>
                <a:gridCol w="441655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UAR-NVC (TCSVT'25)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v1 实现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切分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固定短 GOP (6/30/120 帧), 相邻高度相似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场景切分 (~100-200帧), 段间剧变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组结构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GOM 每 m=5 个 GOP 重出 I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 + 5P 一条链到底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II 插值 (消融最优)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D-init 直接复制 (其消融最差)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率约束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RQEC 残差熵进损失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事后 L1 + 阈值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 1.5-3k / P 1-2k epoch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 / 100 epoch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UVG 最高 -65% (vs base, GOP120)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bunny +604%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 I/P 在参数域成立的前提是 "短 GOP + 自适应插值初始化 + 熵约束训练" —— 三者 v2 全部采纳.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数据: MyINR runs/ · git v1=99a568d · 协议 NeRV 150ep+剪枝40%+8bit量化+算术编码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改进策略 P0-P6 (git 分支 v2 = 54576a7, 已冒烟通过)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66928" cy="411480"/>
          </a:xfrm>
          <a:prstGeom prst="rect">
            <a:avLst/>
          </a:prstGeom>
          <a:solidFill>
            <a:srgbClr val="1B6B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25880" y="166420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GOP/GOM 解耦: 固定短 GOP + 每 m 个一个 I; 场景切换仅重置 I 锚点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212848"/>
            <a:ext cx="566928" cy="411480"/>
          </a:xfrm>
          <a:prstGeom prst="rect">
            <a:avLst/>
          </a:prstGeom>
          <a:solidFill>
            <a:srgbClr val="1B6B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231136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RQEC-lite: 训练损失加 Laplace 熵率项, 率失真联合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779776"/>
            <a:ext cx="566928" cy="411480"/>
          </a:xfrm>
          <a:prstGeom prst="rect">
            <a:avLst/>
          </a:prstGeom>
          <a:solidFill>
            <a:srgbClr val="1B6B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2798064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II 初始化: ε 按相邻 GOP 帧间 MSE 自适应混合随机初始化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46704"/>
            <a:ext cx="566928" cy="411480"/>
          </a:xfrm>
          <a:prstGeom prst="rect">
            <a:avLst/>
          </a:prstGeom>
          <a:solidFill>
            <a:srgbClr val="1B6B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33649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多尺度加权退火: 中间尺度 0.3, 60% 后退火至 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913632"/>
            <a:ext cx="566928" cy="411480"/>
          </a:xfrm>
          <a:prstGeom prst="rect">
            <a:avLst/>
          </a:prstGeom>
          <a:solidFill>
            <a:srgbClr val="1B6B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393192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辅助损失退火 + TCL 静态场景门控 (bunny 0.945 → 自动关闭)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480560"/>
            <a:ext cx="566928" cy="411480"/>
          </a:xfrm>
          <a:prstGeom prst="rect">
            <a:avLst/>
          </a:prstGeom>
          <a:solidFill>
            <a:srgbClr val="1B6B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449884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步数对齐 + 差分先阈值后恢复 (85% 处阈值化, 带掩码恢复 15%)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047488"/>
            <a:ext cx="566928" cy="411480"/>
          </a:xfrm>
          <a:prstGeom prst="rect">
            <a:avLst/>
          </a:prstGeom>
          <a:solidFill>
            <a:srgbClr val="1B6B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5065776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逐张量位深选择: 相对误差 ≤5% 约束下 4-8bit 自适应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164592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162235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DC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更正采纳: 资源采样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75320" y="23317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 ∝ 残差 EMA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275320" y="32004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8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概率下限 0.3× 均匀 + 末段退火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8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单元测试: 采样比 9.78× 对应难度比 10×, 零饿死; 损失保持纯重建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75320" y="42976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重跑队列 (GPU 空闲自动触发):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3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bunny S/M/L + 4 个归因消融 + beauty 抽查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数据: MyINR runs/ · git v1=99a568d · 协议 NeRV 150ep+剪枝40%+8bit量化+算术编码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状态与后续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DC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560320" y="228600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0D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UVG 缺失 33 任务重排队列 (调度器已加显存闸门)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44368"/>
            <a:ext cx="11064240" cy="0"/>
          </a:xfrm>
          <a:prstGeom prst="line">
            <a:avLst/>
          </a:prstGeom>
          <a:noFill/>
          <a:ln w="9525">
            <a:solidFill>
              <a:srgbClr val="2A3B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DC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自动触发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60320" y="31546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0D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全部完成 → 合并 v2 → 8 个重跑任务 (bunny×7 + beauty×1)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813048"/>
            <a:ext cx="11064240" cy="0"/>
          </a:xfrm>
          <a:prstGeom prst="line">
            <a:avLst/>
          </a:prstGeom>
          <a:noFill/>
          <a:ln w="9525">
            <a:solidFill>
              <a:srgbClr val="2A3B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023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DC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然后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60320" y="402336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0D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终版 BD-rate 总表 + 本报告与 PPT 刷新 (A2_M / UVG 补齐, 仅 v1 数据)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681728"/>
            <a:ext cx="11064240" cy="0"/>
          </a:xfrm>
          <a:prstGeom prst="line">
            <a:avLst/>
          </a:prstGeom>
          <a:noFill/>
          <a:ln w="9525">
            <a:solidFill>
              <a:srgbClr val="2A3B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892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DC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更远期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60320" y="489204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0D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逐层可学习高斯熵模型 + QAT (P6 完整版); UAR 式每 GOP 小模型体系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262872" y="6172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8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MyINR · 2026-09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MyINR v1 实验报告</dc:title>
  <dc:subject>PptxGenJS Presentation</dc:subject>
  <dc:creator>MyINR</dc:creator>
  <cp:lastModifiedBy>MyINR</cp:lastModifiedBy>
  <cp:revision>1</cp:revision>
  <dcterms:created xsi:type="dcterms:W3CDTF">2026-09-05T01:28:35Z</dcterms:created>
  <dcterms:modified xsi:type="dcterms:W3CDTF">2026-09-05T01:28:35Z</dcterms:modified>
</cp:coreProperties>
</file>